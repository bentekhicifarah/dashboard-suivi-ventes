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3" r:id="rId4"/>
    <p:sldId id="264" r:id="rId5"/>
    <p:sldId id="258" r:id="rId6"/>
    <p:sldId id="259" r:id="rId7"/>
    <p:sldId id="260" r:id="rId8"/>
    <p:sldId id="261" r:id="rId9"/>
    <p:sldId id="262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A358"/>
    <a:srgbClr val="232448"/>
    <a:srgbClr val="1E2D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3277" autoAdjust="0"/>
  </p:normalViewPr>
  <p:slideViewPr>
    <p:cSldViewPr snapToGrid="0" snapToObjects="1">
      <p:cViewPr varScale="1">
        <p:scale>
          <a:sx n="53" d="100"/>
          <a:sy n="53" d="100"/>
        </p:scale>
        <p:origin x="32" y="4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4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3920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01672-285A-F48B-DB48-0CB66F090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105BAB-F8C0-DD6B-77BC-7F2425900A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D1CF5C-DF81-CB6D-1175-FC7F25A8DD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B09204-9959-9FD5-2B6F-C99963800B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0223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309D2-B237-4741-A99E-9C87D24E2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A8E752-E9F1-0ED0-DB04-189D08501C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562EC5-887D-69E2-BF3E-B55EDC654B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935BB7-95D0-7B9D-6D45-BECFDE746A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7436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24A3A-8B48-B347-DF87-C61DDF417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6FCE47-8C35-72ED-CDA1-F193A15C52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43D63F-CD45-87B8-3B5C-5B720868C9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46CA4E-55DB-7110-A2F7-B39510109F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80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4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9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54863" y="0"/>
            <a:ext cx="90793" cy="5143500"/>
          </a:xfrm>
          <a:prstGeom prst="rect">
            <a:avLst/>
          </a:prstGeom>
          <a:solidFill>
            <a:srgbClr val="0DA358"/>
          </a:solidFill>
          <a:ln w="12700">
            <a:noFill/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4" name="Text 1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</a:t>
            </a:r>
            <a:r>
              <a:rPr lang="en-US" sz="1100" kern="0" spc="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 Projet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Power BI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des ventes — Entreprise fictive</a:t>
            </a:r>
            <a:endParaRPr lang="en-US" sz="1800" dirty="0">
              <a:solidFill>
                <a:srgbClr val="00B050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Farah Bentekhici </a:t>
            </a:r>
            <a:endParaRPr lang="en-US" sz="1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02920" cy="475488"/>
          </a:xfrm>
          <a:prstGeom prst="rect">
            <a:avLst/>
          </a:prstGeom>
          <a:solidFill>
            <a:srgbClr val="0DA358"/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548640" y="1243584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234440" y="130759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Utilité du Dashboard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02920" cy="475488"/>
          </a:xfrm>
          <a:prstGeom prst="rect">
            <a:avLst/>
          </a:prstGeom>
          <a:solidFill>
            <a:srgbClr val="0DA358"/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48640" y="1929384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1234440" y="199339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Étapes d'implémentation &amp; Technologies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502920" cy="475488"/>
          </a:xfrm>
          <a:prstGeom prst="rect">
            <a:avLst/>
          </a:prstGeom>
          <a:solidFill>
            <a:srgbClr val="0DA358"/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48640" y="2615184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1234440" y="267919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&amp; Visualisations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502920" cy="475488"/>
          </a:xfrm>
          <a:prstGeom prst="rect">
            <a:avLst/>
          </a:prstGeom>
          <a:solidFill>
            <a:srgbClr val="0DA358"/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48640" y="3300984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34440" y="336499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502920" cy="475488"/>
          </a:xfrm>
          <a:prstGeom prst="rect">
            <a:avLst/>
          </a:prstGeom>
          <a:solidFill>
            <a:srgbClr val="0DA358"/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48640" y="3986784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1234440" y="405079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2D935-1C9A-A617-307D-DC52886A5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275D7C3-39B3-2F8A-02F9-1041A798088F}"/>
              </a:ext>
            </a:extLst>
          </p:cNvPr>
          <p:cNvSpPr/>
          <p:nvPr/>
        </p:nvSpPr>
        <p:spPr>
          <a:xfrm flipH="1">
            <a:off x="54863" y="0"/>
            <a:ext cx="93873" cy="5143500"/>
          </a:xfrm>
          <a:prstGeom prst="rect">
            <a:avLst/>
          </a:prstGeom>
          <a:solidFill>
            <a:srgbClr val="0DA358"/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2B08D71F-6221-67C5-90AA-E77B36939F6F}"/>
              </a:ext>
            </a:extLst>
          </p:cNvPr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64DA6D29-28E8-F594-80CD-26069DC62751}"/>
              </a:ext>
            </a:extLst>
          </p:cNvPr>
          <p:cNvSpPr/>
          <p:nvPr/>
        </p:nvSpPr>
        <p:spPr>
          <a:xfrm>
            <a:off x="187377" y="79448"/>
            <a:ext cx="886668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quoi </a:t>
            </a:r>
            <a:r>
              <a:rPr lang="en-US" sz="2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ressemble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 Dashboard ? </a:t>
            </a:r>
            <a:endParaRPr lang="en-US" sz="28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98D52D1-4ED8-BB69-FD13-4BF55845E327}"/>
              </a:ext>
            </a:extLst>
          </p:cNvPr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C0470A40-55CC-3390-7164-627797908629}"/>
              </a:ext>
            </a:extLst>
          </p:cNvPr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DAC39381-45EC-19BC-D186-C051E0D769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770" t="27260" r="24911" b="14191"/>
          <a:stretch>
            <a:fillRect/>
          </a:stretch>
        </p:blipFill>
        <p:spPr>
          <a:xfrm>
            <a:off x="765663" y="755133"/>
            <a:ext cx="7612674" cy="4133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56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21017-A195-090D-F339-8EB9BB098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CAFF242-2FA2-2FC7-850D-F48A7A279036}"/>
              </a:ext>
            </a:extLst>
          </p:cNvPr>
          <p:cNvSpPr/>
          <p:nvPr/>
        </p:nvSpPr>
        <p:spPr>
          <a:xfrm flipH="1">
            <a:off x="54862" y="0"/>
            <a:ext cx="132514" cy="5143500"/>
          </a:xfrm>
          <a:prstGeom prst="rect">
            <a:avLst/>
          </a:prstGeom>
          <a:solidFill>
            <a:srgbClr val="0DA358"/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D37E5D8-A235-D699-A5E6-FB5E7982F0FF}"/>
              </a:ext>
            </a:extLst>
          </p:cNvPr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D774ACA-AE1B-5984-BCD7-547D1DE452B5}"/>
              </a:ext>
            </a:extLst>
          </p:cNvPr>
          <p:cNvSpPr/>
          <p:nvPr/>
        </p:nvSpPr>
        <p:spPr>
          <a:xfrm>
            <a:off x="187377" y="79448"/>
            <a:ext cx="886668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quoi </a:t>
            </a:r>
            <a:r>
              <a:rPr lang="en-US" sz="2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ressemble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 Dashboard ? </a:t>
            </a:r>
            <a:endParaRPr lang="en-US" sz="28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5C43C7F-B440-F167-D83E-8CEFE7349D11}"/>
              </a:ext>
            </a:extLst>
          </p:cNvPr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74DC4182-0320-91BF-7AE9-3E34CD1D4E21}"/>
              </a:ext>
            </a:extLst>
          </p:cNvPr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719F8106-A35C-41C6-2CA1-CC5A9394BE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203" t="29288" r="24867" b="17719"/>
          <a:stretch>
            <a:fillRect/>
          </a:stretch>
        </p:blipFill>
        <p:spPr>
          <a:xfrm>
            <a:off x="935758" y="938675"/>
            <a:ext cx="7272484" cy="3876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078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280160" cy="292608"/>
          </a:xfrm>
          <a:prstGeom prst="rect">
            <a:avLst/>
          </a:prstGeom>
          <a:solidFill>
            <a:srgbClr val="0DA358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UTILITÉ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Utilité du Dashboard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Conçu pour centraliser les KPI commerciaux sur une seule page et faciliter la prise de decision sans manipulation de </a:t>
            </a:r>
            <a:r>
              <a:rPr lang="en-US" sz="1300" i="1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</a:t>
            </a: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bruts</a:t>
            </a: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075688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15568" y="1965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en temps réel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115568" y="225856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total, </a:t>
            </a:r>
            <a:r>
              <a:rPr lang="en-US" sz="95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95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quantité, panier moyen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355848" y="187452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2075688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22776" y="1965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Évolution temporelle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922776" y="225856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Courbes de CA et volume des ventes </a:t>
            </a:r>
            <a:r>
              <a:rPr lang="en-US" sz="95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function du temps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163056" y="187452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648" y="2075688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729984" y="1965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région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6729984" y="225856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Comparatif des performances géographiques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548640" y="2953512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3154680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115568" y="30449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catégorie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1115568" y="33375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du CA par famille de produits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3355848" y="2953512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0440" y="3154680"/>
            <a:ext cx="320040" cy="32004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922776" y="30449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détaillé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3922776" y="33375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Détail interactif des </a:t>
            </a:r>
            <a:r>
              <a:rPr lang="en-US" sz="95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avec les </a:t>
            </a:r>
            <a:r>
              <a:rPr lang="en-US" sz="95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6163056" y="2953512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7648" y="3154680"/>
            <a:ext cx="320040" cy="32004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729984" y="30449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 dynamiques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6729984" y="33375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région, statut de commande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920240" cy="292608"/>
          </a:xfrm>
          <a:prstGeom prst="rect">
            <a:avLst/>
          </a:prstGeom>
          <a:solidFill>
            <a:srgbClr val="0DA358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IMPLÉMENTATION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Étapes &amp; Technologies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1051560" y="1627632"/>
            <a:ext cx="0" cy="256032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886968" y="1508760"/>
            <a:ext cx="329184" cy="329184"/>
          </a:xfrm>
          <a:prstGeom prst="ellipse">
            <a:avLst/>
          </a:prstGeom>
          <a:solidFill>
            <a:srgbClr val="0DA358"/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886968" y="1508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07592" y="149047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Importation des données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307592" y="1746504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</a:t>
            </a: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CSV importé dans Power BI Desktop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886968" y="2148840"/>
            <a:ext cx="329184" cy="329184"/>
          </a:xfrm>
          <a:prstGeom prst="ellipse">
            <a:avLst/>
          </a:prstGeom>
          <a:solidFill>
            <a:srgbClr val="0DA358"/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886968" y="2148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07592" y="213055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1307592" y="2386584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Nettoyage, suppression de colonnes, et normalization </a:t>
            </a:r>
            <a:r>
              <a:rPr lang="en-US" sz="10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mettant</a:t>
            </a: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place un </a:t>
            </a:r>
            <a:r>
              <a:rPr lang="en-US" sz="10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</a:t>
            </a: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relationnel (Ventes / Clients / Régions)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86968" y="2788920"/>
            <a:ext cx="329184" cy="329184"/>
          </a:xfrm>
          <a:prstGeom prst="ellipse">
            <a:avLst/>
          </a:prstGeom>
          <a:solidFill>
            <a:srgbClr val="0DA358"/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886968" y="2788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07592" y="277063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&amp; Template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1307592" y="3026664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Importation du </a:t>
            </a:r>
            <a:r>
              <a:rPr lang="en-US" sz="10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</a:t>
            </a: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« Loomy Lime » de Microsoft Fabric et mise </a:t>
            </a:r>
            <a:r>
              <a:rPr lang="en-US" sz="10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place de la template </a:t>
            </a:r>
            <a:r>
              <a:rPr lang="en-US" sz="10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souhaitée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86968" y="3429000"/>
            <a:ext cx="329184" cy="329184"/>
          </a:xfrm>
          <a:prstGeom prst="ellipse">
            <a:avLst/>
          </a:prstGeom>
          <a:solidFill>
            <a:srgbClr val="0DA358"/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886968" y="3429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307592" y="341071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Mesures</a:t>
            </a: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DAX pour implementer les KPI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1307592" y="3666744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ventes · Nb commandes · Quantité vendue · Commande moyenne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86968" y="4069080"/>
            <a:ext cx="329184" cy="329184"/>
          </a:xfrm>
          <a:prstGeom prst="ellipse">
            <a:avLst/>
          </a:prstGeom>
          <a:solidFill>
            <a:srgbClr val="0DA358"/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886968" y="4069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1307592" y="405079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Visualisations &amp; Filtres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1307592" y="4306824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Courbes · Barres · Donut · Tableau · 3 </a:t>
            </a:r>
            <a:r>
              <a:rPr lang="en-US" sz="10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554480" cy="292608"/>
          </a:xfrm>
          <a:prstGeom prst="rect">
            <a:avLst/>
          </a:prstGeom>
          <a:solidFill>
            <a:srgbClr val="0DA358"/>
          </a:solidFill>
          <a:ln w="12700">
            <a:noFill/>
            <a:prstDash val="solid"/>
          </a:ln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MESURES DAX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Calculs &amp; Visualisations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874520" cy="1417320"/>
          </a:xfrm>
          <a:prstGeom prst="rect">
            <a:avLst/>
          </a:prstGeom>
          <a:solidFill>
            <a:srgbClr val="232448"/>
          </a:solidFill>
          <a:ln w="12700">
            <a:solidFill>
              <a:srgbClr val="2D3D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874520" cy="45720"/>
          </a:xfrm>
          <a:prstGeom prst="rect">
            <a:avLst/>
          </a:prstGeom>
          <a:solidFill>
            <a:srgbClr val="0DA358"/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58368" y="1645920"/>
            <a:ext cx="16550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ventes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039112"/>
            <a:ext cx="169164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85800" y="2084832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SUM(Ventes[Prix total])</a:t>
            </a:r>
            <a:endParaRPr lang="en-US" sz="900" b="1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2606040" y="1508760"/>
            <a:ext cx="1874520" cy="1417320"/>
          </a:xfrm>
          <a:prstGeom prst="rect">
            <a:avLst/>
          </a:prstGeom>
          <a:solidFill>
            <a:srgbClr val="232448"/>
          </a:solidFill>
          <a:ln w="12700">
            <a:solidFill>
              <a:srgbClr val="2D3D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2606040" y="1508760"/>
            <a:ext cx="1874520" cy="45720"/>
          </a:xfrm>
          <a:prstGeom prst="rect">
            <a:avLst/>
          </a:prstGeom>
          <a:solidFill>
            <a:srgbClr val="0DA358"/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2715768" y="1645920"/>
            <a:ext cx="16550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de commandes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97480" y="2039112"/>
            <a:ext cx="169164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2743200" y="2084832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DISTINCTCOUNT(Ventes[id commande])</a:t>
            </a:r>
            <a:endParaRPr lang="en-US" sz="900" b="1" dirty="0">
              <a:solidFill>
                <a:schemeClr val="bg1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663440" y="1508760"/>
            <a:ext cx="1874520" cy="1417320"/>
          </a:xfrm>
          <a:prstGeom prst="rect">
            <a:avLst/>
          </a:prstGeom>
          <a:solidFill>
            <a:srgbClr val="232448"/>
          </a:solidFill>
          <a:ln w="12700">
            <a:solidFill>
              <a:srgbClr val="2D3D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4663440" y="1508760"/>
            <a:ext cx="1874520" cy="45720"/>
          </a:xfrm>
          <a:prstGeom prst="rect">
            <a:avLst/>
          </a:prstGeom>
          <a:solidFill>
            <a:srgbClr val="0DA358"/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773168" y="1645920"/>
            <a:ext cx="16550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Quantité vendue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039112"/>
            <a:ext cx="169164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800600" y="2084832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SUM(Ventes[Quantité])</a:t>
            </a:r>
            <a:endParaRPr lang="en-US" sz="900" b="1" dirty="0">
              <a:solidFill>
                <a:schemeClr val="bg1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720840" y="1508760"/>
            <a:ext cx="1874520" cy="1417320"/>
          </a:xfrm>
          <a:prstGeom prst="rect">
            <a:avLst/>
          </a:prstGeom>
          <a:solidFill>
            <a:srgbClr val="232448"/>
          </a:solidFill>
          <a:ln w="12700">
            <a:solidFill>
              <a:srgbClr val="2D3D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6720840" y="1508760"/>
            <a:ext cx="1874520" cy="45720"/>
          </a:xfrm>
          <a:prstGeom prst="rect">
            <a:avLst/>
          </a:prstGeom>
          <a:solidFill>
            <a:srgbClr val="0DA358"/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6830568" y="1645920"/>
            <a:ext cx="16550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 moyenne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12280" y="2039112"/>
            <a:ext cx="169164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6858000" y="2084832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DIVIDE([Total ventes], [Nombre de commandes])</a:t>
            </a:r>
            <a:endParaRPr lang="en-US" sz="900" b="1" dirty="0">
              <a:solidFill>
                <a:schemeClr val="bg1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548640" y="3154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Visualisations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données  créées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8640" y="35661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Courbe</a:t>
            </a: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 Évolution CA &amp; Volume </a:t>
            </a:r>
          </a:p>
          <a:p>
            <a:pPr marL="0" indent="0" algn="ctr">
              <a:buNone/>
            </a:pPr>
            <a:r>
              <a:rPr lang="en-US" sz="1100" b="1" u="sng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But</a:t>
            </a: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: identifier des tendances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ou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 des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saisonnalités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4846320" y="35661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Barres : Répartition par region</a:t>
            </a:r>
          </a:p>
          <a:p>
            <a:pPr algn="ctr"/>
            <a:r>
              <a:rPr lang="en-US" sz="1100" b="1" u="sng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But</a:t>
            </a: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: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cibler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 les zones les plus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rentables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ou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 les plus à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améliorer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 </a:t>
            </a:r>
            <a:endParaRPr lang="en-US" sz="11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457200" y="4440615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: Répartition par </a:t>
            </a:r>
            <a:r>
              <a:rPr lang="en-US" sz="1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catégorie</a:t>
            </a: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</a:t>
            </a:r>
            <a:endParaRPr lang="en-US" sz="1400" b="1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100" b="1" u="sng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But</a:t>
            </a: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: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orienter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 la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stratégie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commerciale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 vers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ceux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 qui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fonctionnenr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 le plus et faire des efforts sur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ceux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 qui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fonctionnent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 le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moins</a:t>
            </a:r>
            <a:endParaRPr lang="en-US" sz="11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4858352" y="446227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</a:t>
            </a:r>
            <a:r>
              <a:rPr lang="en-US" sz="1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dynamique</a:t>
            </a: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 Détail des </a:t>
            </a:r>
            <a:r>
              <a:rPr lang="en-US" sz="1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</a:t>
            </a:r>
            <a:endParaRPr lang="en-US" sz="1400" b="1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100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	</a:t>
            </a:r>
            <a:r>
              <a:rPr lang="en-US" sz="1100" b="1" u="sng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But</a:t>
            </a: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: voir le detail des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commandes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 et les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filtrer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dynamiquement</a:t>
            </a:r>
            <a:endParaRPr lang="en-US" sz="11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81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kern="0" spc="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457200" y="123120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2286000" y="260280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Navigation &amp; filtres interactifs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2286000" y="2950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KPI &amp; graphiques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2286000" y="32977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Filtre statut commande (annulations car le + pertinent)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463040" cy="292608"/>
          </a:xfrm>
          <a:prstGeom prst="rect">
            <a:avLst/>
          </a:prstGeom>
          <a:solidFill>
            <a:srgbClr val="0DA358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CONCLUSION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j'ai appris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dashboard Power BI réalisé dans le cadre de </a:t>
            </a:r>
            <a:r>
              <a:rPr lang="en-US" sz="1200" b="1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r>
              <a:rPr lang="en-US" sz="12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apprentissage</a:t>
            </a:r>
            <a:r>
              <a:rPr lang="en-US" sz="12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2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autodidacte</a:t>
            </a:r>
            <a:r>
              <a:rPr lang="en-US" sz="12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00" b="1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l’outil</a:t>
            </a:r>
            <a:r>
              <a:rPr lang="en-US" sz="12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b="1" dirty="0">
              <a:solidFill>
                <a:schemeClr val="bg1"/>
              </a:solidFill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548640" y="187452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18288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&amp; transformation de données avec Power Query</a:t>
            </a:r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	(Déjà vu sous excel)</a:t>
            </a:r>
            <a:endParaRPr lang="en-US" sz="1100" dirty="0">
              <a:solidFill>
                <a:schemeClr val="bg1"/>
              </a:solidFill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4846320" y="1874520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193792" y="18288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relationnelle (Ventes, Clients, Régions)</a:t>
            </a:r>
            <a:endParaRPr lang="en-US" sz="1100" dirty="0">
              <a:solidFill>
                <a:schemeClr val="bg1"/>
              </a:solidFill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>
            <a:lum bright="70000" contrast="-70000"/>
          </a:blip>
          <a:stretch>
            <a:fillRect/>
          </a:stretch>
        </p:blipFill>
        <p:spPr>
          <a:xfrm>
            <a:off x="548640" y="2532888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96112" y="248716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de mesures DAX pour les KPI</a:t>
            </a:r>
            <a:endParaRPr lang="en-US" sz="1100" dirty="0">
              <a:solidFill>
                <a:schemeClr val="bg1"/>
              </a:solidFill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>
            <a:lum bright="70000" contrast="-70000"/>
          </a:blip>
          <a:stretch>
            <a:fillRect/>
          </a:stretch>
        </p:blipFill>
        <p:spPr>
          <a:xfrm>
            <a:off x="4846320" y="2532888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193792" y="248716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Visualisations variées (courbes, barres, donut, tableau)</a:t>
            </a:r>
            <a:endParaRPr lang="en-US" sz="1100" dirty="0">
              <a:solidFill>
                <a:schemeClr val="bg1"/>
              </a:solidFill>
            </a:endParaRPr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>
            <a:lum bright="70000" contrast="-70000"/>
          </a:blip>
          <a:stretch>
            <a:fillRect/>
          </a:stretch>
        </p:blipFill>
        <p:spPr>
          <a:xfrm>
            <a:off x="548640" y="3191256"/>
            <a:ext cx="256032" cy="25603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96112" y="314553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interactifs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pour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plus loin</a:t>
            </a:r>
            <a:endParaRPr lang="en-US" sz="1100" dirty="0">
              <a:solidFill>
                <a:schemeClr val="bg1"/>
              </a:solidFill>
            </a:endParaRPr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>
            <a:lum bright="70000" contrast="-70000"/>
          </a:blip>
          <a:stretch>
            <a:fillRect/>
          </a:stretch>
        </p:blipFill>
        <p:spPr>
          <a:xfrm>
            <a:off x="4846320" y="3191256"/>
            <a:ext cx="256032" cy="256032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193792" y="314553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au format template .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pbit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pour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partager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avec les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autres</a:t>
            </a:r>
            <a:b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l’absence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power Bi report qui est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payant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8" name="Shape 10"/>
          <p:cNvSpPr/>
          <p:nvPr/>
        </p:nvSpPr>
        <p:spPr>
          <a:xfrm>
            <a:off x="548640" y="4462272"/>
            <a:ext cx="8046720" cy="411480"/>
          </a:xfrm>
          <a:prstGeom prst="rect">
            <a:avLst/>
          </a:prstGeom>
          <a:solidFill>
            <a:srgbClr val="0DA358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1"/>
          <p:cNvSpPr/>
          <p:nvPr/>
        </p:nvSpPr>
        <p:spPr>
          <a:xfrm>
            <a:off x="548640" y="44622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s'est révélé accessible </a:t>
            </a:r>
            <a:r>
              <a:rPr lang="en-US" sz="11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assez</a:t>
            </a:r>
            <a:r>
              <a:rPr lang="en-US" sz="11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souple à </a:t>
            </a:r>
            <a:r>
              <a:rPr lang="en-US" sz="11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apprendre</a:t>
            </a:r>
            <a:r>
              <a:rPr lang="en-US" sz="11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</a:t>
            </a:r>
            <a:r>
              <a:rPr lang="en-US" sz="11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a des bases </a:t>
            </a:r>
            <a:r>
              <a:rPr lang="en-US" sz="11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1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excel </a:t>
            </a:r>
            <a:r>
              <a:rPr lang="en-US" sz="11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</a:t>
            </a:r>
            <a:r>
              <a:rPr lang="en-US" sz="11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 y a </a:t>
            </a:r>
            <a:r>
              <a:rPr lang="en-US" sz="11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</a:t>
            </a:r>
            <a:r>
              <a:rPr lang="en-US" sz="11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meme </a:t>
            </a:r>
            <a:r>
              <a:rPr lang="en-US" sz="11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quelques</a:t>
            </a:r>
            <a:r>
              <a:rPr lang="en-US" sz="11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</a:t>
            </a:r>
            <a:r>
              <a:rPr lang="en-US" sz="11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sur la mise </a:t>
            </a:r>
            <a:r>
              <a:rPr lang="en-US" sz="11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1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page (Couleur de </a:t>
            </a:r>
            <a:r>
              <a:rPr lang="en-US" sz="11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</a:t>
            </a:r>
            <a:r>
              <a:rPr lang="en-US" sz="11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gestion des </a:t>
            </a:r>
            <a:r>
              <a:rPr lang="en-US" sz="11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arrières</a:t>
            </a:r>
            <a:r>
              <a:rPr lang="en-US" sz="11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plans)</a:t>
            </a:r>
            <a:endParaRPr lang="en-US" sz="1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80D40-6C3A-0726-E854-B99F6A1D3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B488779D-4D80-F643-F31D-1C3A398D9E43}"/>
              </a:ext>
            </a:extLst>
          </p:cNvPr>
          <p:cNvSpPr/>
          <p:nvPr/>
        </p:nvSpPr>
        <p:spPr>
          <a:xfrm>
            <a:off x="457200" y="23317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</a:t>
            </a:r>
            <a:r>
              <a:rPr lang="en-US" sz="4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</a:t>
            </a: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attention !</a:t>
            </a:r>
            <a:endParaRPr lang="en-US" sz="42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12E799F-F495-847E-DCEF-8AEEB9C16DE2}"/>
              </a:ext>
            </a:extLst>
          </p:cNvPr>
          <p:cNvSpPr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83AD2A41-388D-3815-DA59-08D944C435A1}"/>
              </a:ext>
            </a:extLst>
          </p:cNvPr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105637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530</Words>
  <Application>Microsoft Office PowerPoint</Application>
  <PresentationFormat>Affichage à l'écran (16:9)</PresentationFormat>
  <Paragraphs>96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Dashboard Power BI – Suivi des Ventes</dc:title>
  <dc:subject>PptxGenJS Presentation</dc:subject>
  <dc:creator>Farah Bentekhici</dc:creator>
  <cp:lastModifiedBy>Farah Bentekhici</cp:lastModifiedBy>
  <cp:revision>9</cp:revision>
  <dcterms:created xsi:type="dcterms:W3CDTF">2026-04-15T21:15:12Z</dcterms:created>
  <dcterms:modified xsi:type="dcterms:W3CDTF">2026-04-15T22:36:27Z</dcterms:modified>
</cp:coreProperties>
</file>